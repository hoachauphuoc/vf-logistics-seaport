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29B5E8"/>
                </a:solidFill>
              </a:defRPr>
            </a:pPr>
            <a:r>
              <a:t>VF Logistics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 b="0">
                <a:solidFill>
                  <a:srgbClr val="FFFFFF"/>
                </a:solidFill>
              </a:defRPr>
            </a:pPr>
            <a:r>
              <a:t>AI-Powered Enterprise Seaport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999999"/>
                </a:solidFill>
              </a:defRPr>
            </a:pPr>
            <a:r>
              <a:t>Team SORA</a:t>
            </a:r>
          </a:p>
          <a:p>
            <a:pPr>
              <a:spcAft>
                <a:spcPts val="600"/>
              </a:spcAft>
              <a:defRPr sz="1400" b="0">
                <a:solidFill>
                  <a:srgbClr val="999999"/>
                </a:solidFill>
              </a:defRPr>
            </a:pPr>
            <a:r>
              <a:t>Built 100% with Snowflake CoCo CLI (Cortex Code)</a:t>
            </a:r>
          </a:p>
          <a:p>
            <a:pPr>
              <a:spcAft>
                <a:spcPts val="600"/>
              </a:spcAft>
              <a:defRPr sz="1400" b="0">
                <a:solidFill>
                  <a:srgbClr val="999999"/>
                </a:solidFill>
              </a:defRPr>
            </a:pPr>
            <a:r>
              <a:t>Snowflake CoCo CLI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B5E8"/>
                </a:solidFill>
              </a:defRPr>
            </a:pPr>
            <a:r>
              <a:t>The Problem: Maritime Document Chaos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011680" cy="1097280"/>
          </a:xfrm>
          <a:prstGeom prst="round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29B5E8"/>
                </a:solidFill>
              </a:defRPr>
            </a:pPr>
            <a:r>
              <a:t>200+</a:t>
            </a:r>
          </a:p>
          <a:p>
            <a:pPr algn="ctr">
              <a:defRPr sz="1000">
                <a:solidFill>
                  <a:srgbClr val="999999"/>
                </a:solidFill>
              </a:defRPr>
            </a:pPr>
            <a:r>
              <a:t>Documents per vessel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17520" y="1371600"/>
            <a:ext cx="2011680" cy="1097280"/>
          </a:xfrm>
          <a:prstGeom prst="round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29B5E8"/>
                </a:solidFill>
              </a:defRPr>
            </a:pPr>
            <a:r>
              <a:t>15-30 min</a:t>
            </a:r>
          </a:p>
          <a:p>
            <a:pPr algn="ctr">
              <a:defRPr sz="1000">
                <a:solidFill>
                  <a:srgbClr val="999999"/>
                </a:solidFill>
              </a:defRPr>
            </a:pPr>
            <a:r>
              <a:t>Manual classification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0" y="1371600"/>
            <a:ext cx="2011680" cy="1097280"/>
          </a:xfrm>
          <a:prstGeom prst="round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EF4444"/>
                </a:solidFill>
              </a:defRPr>
            </a:pPr>
            <a:r>
              <a:t>$5K-$50K</a:t>
            </a:r>
          </a:p>
          <a:p>
            <a:pPr algn="ctr">
              <a:defRPr sz="1000">
                <a:solidFill>
                  <a:srgbClr val="999999"/>
                </a:solidFill>
              </a:defRPr>
            </a:pPr>
            <a:r>
              <a:t>Compliance error cost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Bills of Lading, Invoices, Certificates, EDI — all processed manually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No automated cross-checking between related documents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Fraud &amp; duplicates undetected until cargo mismatch at destination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Compliance errors cause expensive port delays and fines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B5E8"/>
                </a:solidFill>
              </a:defRPr>
            </a:pPr>
            <a:r>
              <a:t>Solution: AI Document Intelligence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9B5E8"/>
                </a:solidFill>
              </a:defRPr>
            </a:pPr>
            <a:r>
              <a:t>Upload &gt; Auto-Classify &gt; Extract &gt; Cross-Check &gt; Compliance &gt; Fraud Scan</a:t>
            </a:r>
          </a:p>
          <a:p>
            <a:pPr>
              <a:spcAft>
                <a:spcPts val="600"/>
              </a:spcAft>
              <a:defRPr sz="1300" b="0">
                <a:solidFill>
                  <a:srgbClr val="29B5E8"/>
                </a:solidFill>
              </a:defRPr>
            </a:pPr>
            <a:r>
              <a:t>(Mendix)   (Cortex AI)    (AI_PARSE)   (Rule+AI)      (SQL Rules)     (Pattern)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Zero-hallucination architecture for financial/logistics data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Hybrid AI: Rules first (free), AI only for edge cases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Real-time compliance against 138 HS codes + DG classification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Fraud detection with 5 algorithmic rules (pure SQL, instant)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Ultra-low cost: ~$0.001 per document (llama3-8b)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B5E8"/>
                </a:solidFill>
              </a:defRPr>
            </a:pPr>
            <a:r>
              <a:t>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E0E0E0"/>
                </a:solidFill>
              </a:defRPr>
            </a:pPr>
            <a:r>
              <a:t>MENDIX (Low-Code UI)          SNOWFLAKE (AI + Data Platform)</a:t>
            </a:r>
          </a:p>
          <a:p>
            <a:pPr>
              <a:spcAft>
                <a:spcPts val="600"/>
              </a:spcAft>
              <a:defRPr sz="1300" b="0">
                <a:solidFill>
                  <a:srgbClr val="E0E0E0"/>
                </a:solidFill>
              </a:defRPr>
            </a:pPr>
            <a:r>
              <a:t>--------------------          ----------------------------</a:t>
            </a:r>
          </a:p>
          <a:p>
            <a:pPr>
              <a:spcAft>
                <a:spcPts val="600"/>
              </a:spcAft>
              <a:defRPr sz="1300" b="0">
                <a:solidFill>
                  <a:srgbClr val="E0E0E0"/>
                </a:solidFill>
              </a:defRPr>
            </a:pPr>
            <a:r>
              <a:t>  Document Upload               Cortex AI Functions</a:t>
            </a:r>
          </a:p>
          <a:p>
            <a:pPr>
              <a:spcAft>
                <a:spcPts val="600"/>
              </a:spcAft>
              <a:defRPr sz="1300" b="0">
                <a:solidFill>
                  <a:srgbClr val="E0E0E0"/>
                </a:solidFill>
              </a:defRPr>
            </a:pPr>
            <a:r>
              <a:t>  Workflow Engine                16 Stored Procedures</a:t>
            </a:r>
          </a:p>
          <a:p>
            <a:pPr>
              <a:spcAft>
                <a:spcPts val="600"/>
              </a:spcAft>
              <a:defRPr sz="1300" b="0">
                <a:solidFill>
                  <a:srgbClr val="E0E0E0"/>
                </a:solidFill>
              </a:defRPr>
            </a:pPr>
            <a:r>
              <a:t>  Async Task Queue              228+ Reference Records</a:t>
            </a:r>
          </a:p>
          <a:p>
            <a:pPr>
              <a:spcAft>
                <a:spcPts val="600"/>
              </a:spcAft>
              <a:defRPr sz="1300" b="0">
                <a:solidFill>
                  <a:srgbClr val="E0E0E0"/>
                </a:solidFill>
              </a:defRPr>
            </a:pPr>
            <a:r>
              <a:t>  Alert Dashboard               Streamlit Dashboard</a:t>
            </a:r>
          </a:p>
          <a:p>
            <a:pPr>
              <a:spcAft>
                <a:spcPts val="600"/>
              </a:spcAft>
              <a:defRPr sz="1300" b="0">
                <a:solidFill>
                  <a:srgbClr val="E0E0E0"/>
                </a:solidFill>
              </a:defRPr>
            </a:pPr>
            <a:r>
              <a:t>  SAP Posting UI                Marketplace Weather</a:t>
            </a:r>
          </a:p>
          <a:p>
            <a:pPr>
              <a:spcAft>
                <a:spcPts val="600"/>
              </a:spcAft>
              <a:defRPr sz="1300" b="0">
                <a:solidFill>
                  <a:srgbClr val="E0E0E0"/>
                </a:solidFill>
              </a:defRPr>
            </a:pPr>
            <a:r>
              <a:t>                                Snowpark Pipeline</a:t>
            </a:r>
          </a:p>
          <a:p>
            <a:pPr>
              <a:spcAft>
                <a:spcPts val="600"/>
              </a:spcAft>
              <a:defRPr sz="1300" b="0">
                <a:solidFill>
                  <a:srgbClr val="E0E0E0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E0E0E0"/>
                </a:solidFill>
              </a:defRPr>
            </a:pPr>
            <a:r>
              <a:t>       Connection: JDBC + Key-Pair JWT Auth</a:t>
            </a:r>
          </a:p>
          <a:p>
            <a:pPr>
              <a:spcAft>
                <a:spcPts val="600"/>
              </a:spcAft>
              <a:defRPr sz="1300" b="0">
                <a:solidFill>
                  <a:srgbClr val="E0E0E0"/>
                </a:solidFill>
              </a:defRPr>
            </a:pPr>
            <a:r>
              <a:t>       Role: MENDIX_SERVICE_ROLE (51 grants, least-privilege)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B5E8"/>
                </a:solidFill>
              </a:defRPr>
            </a:pPr>
            <a:r>
              <a:t>Built 100% with CoCo CLI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828800"/>
          <a:ext cx="7772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6576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CoCo CLI Feature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16 stored procedures with retry logic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SQL generation + execution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Hybrid cross-check (rule + AI)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Stored Proc design + testing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228+ reference data records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Bulk SQL generation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Streamlit dashboard (5 pages)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File management + deployment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Marine weather integration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Marketplace exploration + JOINs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Snowpark analytics pipeline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Python code generation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SAP simulation (4 tables)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Table DDL + procedure creation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Cortex Agent (multilingual)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Agent spec + configuration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B5E8"/>
                </a:solidFill>
              </a:defRPr>
            </a:pPr>
            <a:r>
              <a:t>Feature 1: Auto-Classification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29B5E8"/>
                </a:solidFill>
              </a:defRPr>
            </a:pPr>
            <a:r>
              <a:t>CALL CLASSIFY_DOCUMENT_TEXT('BILL OF LADING No. MAEU123...');</a:t>
            </a:r>
          </a:p>
          <a:p>
            <a:pPr>
              <a:spcAft>
                <a:spcPts val="600"/>
              </a:spcAft>
              <a:defRPr sz="1200" b="0">
                <a:solidFill>
                  <a:srgbClr val="29B5E8"/>
                </a:solidFill>
              </a:defRPr>
            </a:pPr>
            <a:r>
              <a:t>&gt; {document_type: "BILL_OF_LADING", confidence: 0.95}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17 maritime document types supported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Confidence scoring - human-in-the-loop for &lt; 85%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Retry mechanism with exponential backoff (1s, 2s, 4s)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All calls logged to AI_CALL_LOG for audit + cost tracking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Model: llama3-8b (ultra-low cost)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B5E8"/>
                </a:solidFill>
              </a:defRPr>
            </a:pPr>
            <a:r>
              <a:t>Feature 2: Hybrid Cross-Check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22C55E"/>
                </a:solidFill>
              </a:defRPr>
            </a:pPr>
            <a:r>
              <a:t>8 SQL Rules (FREE)                     AI Fuzzy Match (edge cases only)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E0E0E0"/>
                </a:solidFill>
              </a:defRPr>
            </a:pPr>
            <a:r>
              <a:t>Rule 1: Weight discrepancy (&gt;2% difference)</a:t>
            </a:r>
          </a:p>
          <a:p>
            <a:pPr>
              <a:spcAft>
                <a:spcPts val="800"/>
              </a:spcAft>
              <a:defRPr sz="1300">
                <a:solidFill>
                  <a:srgbClr val="E0E0E0"/>
                </a:solidFill>
              </a:defRPr>
            </a:pPr>
            <a:r>
              <a:t>Rule 2: Package count mismatch</a:t>
            </a:r>
          </a:p>
          <a:p>
            <a:pPr>
              <a:spcAft>
                <a:spcPts val="800"/>
              </a:spcAft>
              <a:defRPr sz="1300">
                <a:solidFill>
                  <a:srgbClr val="E0E0E0"/>
                </a:solidFill>
              </a:defRPr>
            </a:pPr>
            <a:r>
              <a:t>Rule 3: Vessel name mismatch</a:t>
            </a:r>
          </a:p>
          <a:p>
            <a:pPr>
              <a:spcAft>
                <a:spcPts val="800"/>
              </a:spcAft>
              <a:defRPr sz="1300">
                <a:solidFill>
                  <a:srgbClr val="E0E0E0"/>
                </a:solidFill>
              </a:defRPr>
            </a:pPr>
            <a:r>
              <a:t>Rule 4: Voyage number mismatch</a:t>
            </a:r>
          </a:p>
          <a:p>
            <a:pPr>
              <a:spcAft>
                <a:spcPts val="800"/>
              </a:spcAft>
              <a:defRPr sz="1300">
                <a:solidFill>
                  <a:srgbClr val="E0E0E0"/>
                </a:solidFill>
              </a:defRPr>
            </a:pPr>
            <a:r>
              <a:t>Rule 5: ETD date mismatch</a:t>
            </a:r>
          </a:p>
          <a:p>
            <a:pPr>
              <a:spcAft>
                <a:spcPts val="800"/>
              </a:spcAft>
              <a:defRPr sz="1300">
                <a:solidFill>
                  <a:srgbClr val="E0E0E0"/>
                </a:solidFill>
              </a:defRPr>
            </a:pPr>
            <a:r>
              <a:t>Rule 6: Incoterms mismatch</a:t>
            </a:r>
          </a:p>
          <a:p>
            <a:pPr>
              <a:spcAft>
                <a:spcPts val="800"/>
              </a:spcAft>
              <a:defRPr sz="1300">
                <a:solidFill>
                  <a:srgbClr val="E0E0E0"/>
                </a:solidFill>
              </a:defRPr>
            </a:pPr>
            <a:r>
              <a:t>Rule 7: Volume/CBM discrepancy</a:t>
            </a:r>
          </a:p>
          <a:p>
            <a:pPr>
              <a:spcAft>
                <a:spcPts val="800"/>
              </a:spcAft>
              <a:defRPr sz="1300">
                <a:solidFill>
                  <a:srgbClr val="E0E0E0"/>
                </a:solidFill>
              </a:defRPr>
            </a:pPr>
            <a:r>
              <a:t>Rule 8: Container number mismatch</a:t>
            </a:r>
          </a:p>
          <a:p>
            <a:pPr>
              <a:spcAft>
                <a:spcPts val="800"/>
              </a:spcAft>
              <a:defRPr sz="13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E0E0E0"/>
                </a:solidFill>
              </a:defRPr>
            </a:pPr>
            <a:r>
              <a:t>AI only for party name: "VN SEAFOOD JSC" = "VIETNAM SEAFOOD JSC" (saves 90% tokens)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B5E8"/>
                </a:solidFill>
              </a:defRPr>
            </a:pPr>
            <a:r>
              <a:t>Feature 3: Compliance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29B5E8"/>
                </a:solidFill>
              </a:defRPr>
            </a:pPr>
            <a:r>
              <a:t>CALL CHECK_COMPLIANCE(1);  -- 100% Deterministic, zero AI hallucination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2860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Check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Reference Data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HS Code valid?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138 codes (97 chapters + 4-digit)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PASS/FAIL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Dangerous Goods?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DG flag on HS_CODE_REFERENCE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WARNING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VGM present?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SOLAS requirement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PASS/FAIL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Route-specific docs?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EU-&gt;CoO, US-&gt;ISF, JP-&gt;NACCS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WARNING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B5E8"/>
                </a:solidFill>
              </a:defRPr>
            </a:pPr>
            <a:r>
              <a:t>Feature 4: Fraud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EAB308"/>
                </a:solidFill>
              </a:defRPr>
            </a:pPr>
            <a:r>
              <a:t>5-Rule Anomaly Detection (Pure SQL, Instant, Zero AI Cost)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103120"/>
          <a:ext cx="7315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  <a:gridCol w="13716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DUPLICATE_BL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Same B/L number on multiple documents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DUPLICATE_CONTAINER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Same container on different B/Ls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INVALID_CONTAINER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Fails ISO 6346 check-digit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WEIGHT_ANOMALY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Weight/volume ratio abnormal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POSSIBLE_COPY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Same shipper+consignee+weight+date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B5E8"/>
                </a:solidFill>
              </a:defRPr>
            </a:pPr>
            <a:r>
              <a:t>Feature 5: Container Photo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29B5E8"/>
                </a:solidFill>
              </a:defRPr>
            </a:pPr>
            <a:r>
              <a:t>CALL VERIFY_CONTAINER_PHOTO('@stage/photo.jpg', 'MAEU1234567');</a:t>
            </a:r>
          </a:p>
          <a:p>
            <a:pPr>
              <a:spcAft>
                <a:spcPts val="600"/>
              </a:spcAft>
              <a:defRPr sz="1200" b="0">
                <a:solidFill>
                  <a:srgbClr val="29B5E8"/>
                </a:solidFill>
              </a:defRPr>
            </a:pPr>
            <a:r>
              <a:t>&gt; {container_match: true, seal_match: true, condition: "good"}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AI_PARSE_DOCUMENT for OCR - extracts container number from photo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Cross-references against B/L container number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Seal number integrity verification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Container physical condition assessment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Used at gate entry - trucks verified before entering 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B5E8"/>
                </a:solidFill>
              </a:defRPr>
            </a:pPr>
            <a:r>
              <a:t>Marketplace Integration: Marine Weather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9B5E8"/>
                </a:solidFill>
              </a:defRPr>
            </a:pPr>
            <a:r>
              <a:t>Source: Pelmorex Global Weather Data (Snowflake Marketplace)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V_PORT_WEATHER_FORECAST view joins weather with PORT_MASTER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7-day forecast with impact classification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Weather Impact: Good / Rain Expected / Strong Wind / Heavy Rain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Proactive alerts for severe weather at destination ports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Zero-copy data sharing - always fresh, no ETL needed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B5E8"/>
                </a:solidFill>
              </a:defRPr>
            </a:pPr>
            <a:r>
              <a:t>Analytics: Streamlit-in-Snowflake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63040"/>
            <a:ext cx="1554480" cy="1097280"/>
          </a:xfrm>
          <a:prstGeom prst="round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29B5E8"/>
                </a:solidFill>
              </a:defRPr>
            </a:pPr>
            <a:r>
              <a:t>KPIs</a:t>
            </a:r>
          </a:p>
          <a:p>
            <a:pPr algn="ctr">
              <a:defRPr sz="1000">
                <a:solidFill>
                  <a:srgbClr val="999999"/>
                </a:solidFill>
              </a:defRPr>
            </a:pPr>
            <a:r>
              <a:t>Overview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94560" y="1463040"/>
            <a:ext cx="1554480" cy="1097280"/>
          </a:xfrm>
          <a:prstGeom prst="round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29B5E8"/>
                </a:solidFill>
              </a:defRPr>
            </a:pPr>
            <a:r>
              <a:t>Explorer</a:t>
            </a:r>
          </a:p>
          <a:p>
            <a:pPr algn="ctr">
              <a:defRPr sz="1000">
                <a:solidFill>
                  <a:srgbClr val="999999"/>
                </a:solidFill>
              </a:defRPr>
            </a:pPr>
            <a:r>
              <a:t>Documents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463040"/>
            <a:ext cx="1554480" cy="1097280"/>
          </a:xfrm>
          <a:prstGeom prst="round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29B5E8"/>
                </a:solidFill>
              </a:defRPr>
            </a:pPr>
            <a:r>
              <a:t>Monitor</a:t>
            </a:r>
          </a:p>
          <a:p>
            <a:pPr algn="ctr">
              <a:defRPr sz="1000">
                <a:solidFill>
                  <a:srgbClr val="999999"/>
                </a:solidFill>
              </a:defRPr>
            </a:pPr>
            <a:r>
              <a:t>Compliance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463040"/>
            <a:ext cx="1554480" cy="1097280"/>
          </a:xfrm>
          <a:prstGeom prst="round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29B5E8"/>
                </a:solidFill>
              </a:defRPr>
            </a:pPr>
            <a:r>
              <a:t>Alerts</a:t>
            </a:r>
          </a:p>
          <a:p>
            <a:pPr algn="ctr">
              <a:defRPr sz="1000">
                <a:solidFill>
                  <a:srgbClr val="999999"/>
                </a:solidFill>
              </a:defRPr>
            </a:pPr>
            <a:r>
              <a:t>Fraud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463040"/>
            <a:ext cx="1554480" cy="1097280"/>
          </a:xfrm>
          <a:prstGeom prst="round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29B5E8"/>
                </a:solidFill>
              </a:defRPr>
            </a:pPr>
            <a:r>
              <a:t>Cost</a:t>
            </a:r>
          </a:p>
          <a:p>
            <a:pPr algn="ctr">
              <a:defRPr sz="1000">
                <a:solidFill>
                  <a:srgbClr val="999999"/>
                </a:solidFill>
              </a:defRPr>
            </a:pPr>
            <a:r>
              <a:t>AI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5-page dashboard deployed natively in Snowflake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No external hosting required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Real-time data from operational tables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AI cost monitoring - essential for enterprise budget control</a:t>
            </a:r>
          </a:p>
          <a:p>
            <a:pPr>
              <a:spcAft>
                <a:spcPts val="800"/>
              </a:spcAft>
              <a:defRPr sz="1500">
                <a:solidFill>
                  <a:srgbClr val="E0E0E0"/>
                </a:solidFill>
              </a:defRPr>
            </a:pPr>
            <a:r>
              <a:t>Object: MENDIX_APP.AGENTS.VF_LOGISTICS_DASHBOARD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B5E8"/>
                </a:solidFill>
              </a:defRPr>
            </a:pPr>
            <a:r>
              <a:t>Security &amp; Governance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7772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0292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Implementation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Least-Privilege Role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MENDIX_SERVICE_ROLE: 51 grants, SELECT-only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Authentication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Key-pair JWT (no password)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Audit Trail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AI_CALL_LOG: every AI call recorded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Cost Control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Token + latency tracking per procedure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Reliability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Exponential backoff retry (1s, 2s, 4s)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Data Access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Procedures only - no direct table modification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B5E8"/>
                </a:solidFill>
              </a:defRPr>
            </a:pPr>
            <a:r>
              <a:t>Business Impact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7772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Improvement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Classification time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15-30 min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2-3 sec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99.7% faster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Compliance coverage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60% manual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100% auto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Full coverage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Cross-check accuracy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Error-prone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Rule+AI hybrid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Zero missed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Fraud detection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Reactive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Proactive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Early detection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AI cost per document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~$0.001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Ultra-low cost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SAP posting time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Manual entry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Automatic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Zero manual work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B5E8"/>
                </a:solidFill>
              </a:defRPr>
            </a:pPr>
            <a:r>
              <a:t>SAP S/4HANA Integration (Phase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FFFFFF"/>
                </a:solidFill>
              </a:defRPr>
            </a:pPr>
            <a:r>
              <a:t>B/L Approved &gt; Automatic SAP Postings: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0E0E0"/>
                </a:solidFill>
              </a:defRPr>
            </a:pPr>
            <a:r>
              <a:t>FI: Vendor Invoice (Debit Freight 4210000 / Credit AP 2100000)</a:t>
            </a:r>
          </a:p>
          <a:p>
            <a:pPr>
              <a:spcAft>
                <a:spcPts val="800"/>
              </a:spcAft>
              <a:defRPr sz="1400">
                <a:solidFill>
                  <a:srgbClr val="E0E0E0"/>
                </a:solidFill>
              </a:defRPr>
            </a:pPr>
            <a:r>
              <a:t>MM: Goods Receipt (MIGO 101 &gt; Plant VF01, Storage WH01)</a:t>
            </a:r>
          </a:p>
          <a:p>
            <a:pPr>
              <a:spcAft>
                <a:spcPts val="800"/>
              </a:spcAft>
              <a:defRPr sz="1400">
                <a:solidFill>
                  <a:srgbClr val="E0E0E0"/>
                </a:solidFill>
              </a:defRPr>
            </a:pPr>
            <a:r>
              <a:t>SD: Delivery + Billing (customer invoice generated)</a:t>
            </a:r>
          </a:p>
          <a:p>
            <a:pPr>
              <a:spcAft>
                <a:spcPts val="800"/>
              </a:spcAft>
              <a:defRPr sz="1400">
                <a:solidFill>
                  <a:srgbClr val="E0E0E0"/>
                </a:solidFill>
              </a:defRPr>
            </a:pPr>
            <a:r>
              <a:t>CO: Cost Allocation (Ocean, THC, Doc Fee, BAF breakdown)</a:t>
            </a:r>
          </a:p>
          <a:p>
            <a:pPr>
              <a:spcAft>
                <a:spcPts val="800"/>
              </a:spcAft>
              <a:defRPr sz="14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E0E0E0"/>
                </a:solidFill>
              </a:defRPr>
            </a:pPr>
            <a:r>
              <a:t>Current: SAP tables simulated in Snowflake (4 tables + 4 procedures)</a:t>
            </a:r>
          </a:p>
          <a:p>
            <a:pPr>
              <a:spcAft>
                <a:spcPts val="800"/>
              </a:spcAft>
              <a:defRPr sz="1400">
                <a:solidFill>
                  <a:srgbClr val="E0E0E0"/>
                </a:solidFill>
              </a:defRPr>
            </a:pPr>
            <a:r>
              <a:t>Future: SAP No-Copy (Datasphere federation, zero ETL)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B5E8"/>
                </a:solidFill>
              </a:defRPr>
            </a:pPr>
            <a:r>
              <a:t>Live Demo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Demo Flow (6 steps):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0E0E0"/>
                </a:solidFill>
              </a:defRPr>
            </a:pPr>
            <a:r>
              <a:t>1. Upload document &gt; Auto-classify (B/L, 95% confidence)</a:t>
            </a:r>
          </a:p>
          <a:p>
            <a:pPr>
              <a:spcAft>
                <a:spcPts val="800"/>
              </a:spcAft>
              <a:defRPr sz="1400">
                <a:solidFill>
                  <a:srgbClr val="E0E0E0"/>
                </a:solidFill>
              </a:defRPr>
            </a:pPr>
            <a:r>
              <a:t>2. Cross-check B/L vs Invoice &gt; Weight discrepancy found</a:t>
            </a:r>
          </a:p>
          <a:p>
            <a:pPr>
              <a:spcAft>
                <a:spcPts val="800"/>
              </a:spcAft>
              <a:defRPr sz="1400">
                <a:solidFill>
                  <a:srgbClr val="E0E0E0"/>
                </a:solidFill>
              </a:defRPr>
            </a:pPr>
            <a:r>
              <a:t>3. Compliance scan &gt; DG flagged, VGM verified</a:t>
            </a:r>
          </a:p>
          <a:p>
            <a:pPr>
              <a:spcAft>
                <a:spcPts val="800"/>
              </a:spcAft>
              <a:defRPr sz="1400">
                <a:solidFill>
                  <a:srgbClr val="E0E0E0"/>
                </a:solidFill>
              </a:defRPr>
            </a:pPr>
            <a:r>
              <a:t>4. Fraud scan &gt; Duplicate container detected</a:t>
            </a:r>
          </a:p>
          <a:p>
            <a:pPr>
              <a:spcAft>
                <a:spcPts val="800"/>
              </a:spcAft>
              <a:defRPr sz="1400">
                <a:solidFill>
                  <a:srgbClr val="E0E0E0"/>
                </a:solidFill>
              </a:defRPr>
            </a:pPr>
            <a:r>
              <a:t>5. Weather check &gt; Strong wind at destination port</a:t>
            </a:r>
          </a:p>
          <a:p>
            <a:pPr>
              <a:spcAft>
                <a:spcPts val="800"/>
              </a:spcAft>
              <a:defRPr sz="1400">
                <a:solidFill>
                  <a:srgbClr val="E0E0E0"/>
                </a:solidFill>
              </a:defRPr>
            </a:pPr>
            <a:r>
              <a:t>6. SAP posting &gt; FI + MM + SD + CO created automatically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45720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Scope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Phase 1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AI Document Intelligence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LIVE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Phase 2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Gate Management (3,000 trucks/day)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Designed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Phase 3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Warehouse &amp; Yard (7 DCs)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Designed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Phase 4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SAP S/4HANA (No-Copy)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Simulated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9B5E8"/>
                </a:solidFill>
              </a:defRPr>
            </a:pPr>
            <a:r>
              <a:t>Team SORA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828800"/>
          <a:ext cx="86868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Member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0000"/>
                          </a:solidFill>
                        </a:defRPr>
                      </a:pPr>
                      <a:r>
                        <a:t>Contact</a:t>
                      </a:r>
                    </a:p>
                  </a:txBody>
                  <a:tcPr>
                    <a:solidFill>
                      <a:srgbClr val="29B5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Chau Phuoc Hoa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Team Lead / Backend Developer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hoachauphuoc@gmail.com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Nguyen Quoc Cuong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Frontend Developer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0E0E0"/>
                          </a:solidFill>
                        </a:defRPr>
                      </a:pPr>
                      <a:r>
                        <a:t>walkeralan620@gmail.com</a:t>
                      </a:r>
                    </a:p>
                  </a:txBody>
                  <a:tcPr>
                    <a:solidFill>
                      <a:srgbClr val="1A1F2E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657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999999"/>
                </a:solidFill>
              </a:defRPr>
            </a:pPr>
            <a:r>
              <a:t>Project: VF Logistics AI-Powered Seaport Platform</a:t>
            </a:r>
          </a:p>
          <a:p>
            <a:pPr>
              <a:spcAft>
                <a:spcPts val="600"/>
              </a:spcAft>
              <a:defRPr sz="1400" b="0">
                <a:solidFill>
                  <a:srgbClr val="999999"/>
                </a:solidFill>
              </a:defRPr>
            </a:pPr>
            <a:r>
              <a:t>Hackathon: Snowflake CoCo CLI Hackathon 2026</a:t>
            </a:r>
          </a:p>
          <a:p>
            <a:pPr>
              <a:spcAft>
                <a:spcPts val="600"/>
              </a:spcAft>
              <a:defRPr sz="1400" b="0">
                <a:solidFill>
                  <a:srgbClr val="999999"/>
                </a:solidFill>
              </a:defRPr>
            </a:pPr>
            <a:r>
              <a:t>Tech Stack: Snowflake (Cortex AI, Snowpark, Streamlit) + Mendix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